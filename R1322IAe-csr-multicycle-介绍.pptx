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41148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28816"/>
            <a:ext cx="12191695" cy="41148"/>
          </a:xfrm>
          <a:prstGeom prst="rect">
            <a:avLst/>
          </a:prstGeom>
          <a:solidFill>
            <a:srgbClr val="FFB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41148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93408"/>
            <a:ext cx="12191695" cy="41148"/>
          </a:xfrm>
          <a:prstGeom prst="rect">
            <a:avLst/>
          </a:prstGeom>
          <a:solidFill>
            <a:srgbClr val="5B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234440"/>
            <a:ext cx="82296" cy="329184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234440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EC4B6"/>
                </a:solidFill>
                <a:latin typeface="Microsoft YaHei"/>
              </a:rPr>
              <a:t>PROCESSOR CORE INTRODUCTION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783080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Microsoft YaHei"/>
              </a:rPr>
              <a:t>R1322IAe-csr-multicycle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2788920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DDE3F0"/>
                </a:solidFill>
                <a:latin typeface="Microsoft YaHei"/>
              </a:rPr>
              <a:t>RV32E + Zicsr  ·  双发射  ·  多周期处理器核心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3401568"/>
            <a:ext cx="10241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9AA6C0"/>
                </a:solidFill>
                <a:latin typeface="Microsoft YaHei"/>
              </a:rPr>
              <a:t>F → D → E → M → W 五级分布式多周期微结构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9AA6C0"/>
                </a:solidFill>
                <a:latin typeface="Microsoft YaHei"/>
              </a:rPr>
              <a:t>基于 Chisel 实现，级间采用 Decoupled 总线与 1 深度握手桥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89720" y="1325880"/>
            <a:ext cx="2148840" cy="914400"/>
          </a:xfrm>
          <a:prstGeom prst="roundRect">
            <a:avLst/>
          </a:prstGeom>
          <a:solidFill>
            <a:srgbClr val="1A2442"/>
          </a:solidFill>
          <a:ln w="15875">
            <a:solidFill>
              <a:srgbClr val="2E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700" b="1">
                <a:solidFill>
                  <a:srgbClr val="2EC4B6"/>
                </a:solidFill>
                <a:latin typeface="Microsoft YaHei"/>
              </a:rPr>
              <a:t>909 MHz
fmax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89720" y="2377440"/>
            <a:ext cx="2148840" cy="914400"/>
          </a:xfrm>
          <a:prstGeom prst="roundRect">
            <a:avLst/>
          </a:prstGeom>
          <a:solidFill>
            <a:srgbClr val="1A2442"/>
          </a:solidFill>
          <a:ln w="15875">
            <a:solidFill>
              <a:srgbClr val="FFB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700" b="1">
                <a:solidFill>
                  <a:srgbClr val="FFB03A"/>
                </a:solidFill>
                <a:latin typeface="Microsoft YaHei"/>
              </a:rPr>
              <a:t>5 拍 / 包
双发射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5806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AA6C0"/>
                </a:solidFill>
                <a:latin typeface="Microsoft YaHei"/>
              </a:rPr>
              <a:t>2026 · 处理器体系结构设计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EC4B6"/>
                </a:solidFill>
                <a:latin typeface="Microsoft YaHei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76656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FFFFF"/>
                </a:solidFill>
                <a:latin typeface="Microsoft YaHei"/>
              </a:rPr>
              <a:t>设计概览：一个什么样的核？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41148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200" b="1">
                <a:solidFill>
                  <a:srgbClr val="222E52"/>
                </a:solidFill>
                <a:latin typeface="Microsoft YaHei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298448"/>
            <a:ext cx="1005840" cy="41148"/>
          </a:xfrm>
          <a:prstGeom prst="rect">
            <a:avLst/>
          </a:prstGeom>
          <a:solidFill>
            <a:srgbClr val="FFB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691640"/>
            <a:ext cx="2651760" cy="1828800"/>
          </a:xfrm>
          <a:prstGeom prst="roundRect">
            <a:avLst/>
          </a:prstGeom>
          <a:solidFill>
            <a:srgbClr val="1A2442"/>
          </a:solidFill>
          <a:ln w="15875">
            <a:solidFill>
              <a:srgbClr val="222E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691640"/>
            <a:ext cx="2651760" cy="109728"/>
          </a:xfrm>
          <a:prstGeom prst="round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47672"/>
            <a:ext cx="22494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9AA6C0"/>
                </a:solidFill>
                <a:latin typeface="Microsoft YaHei"/>
              </a:rPr>
              <a:t>指令集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40280"/>
            <a:ext cx="224942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EC4B6"/>
                </a:solidFill>
                <a:latin typeface="Microsoft YaHei"/>
              </a:rPr>
              <a:t>RV32E + Zicsr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715768"/>
            <a:ext cx="224942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DDE3F0"/>
                </a:solidFill>
                <a:latin typeface="Microsoft YaHei"/>
              </a:rPr>
              <a:t>32 位嵌入式整数指令集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DDE3F0"/>
                </a:solidFill>
                <a:latin typeface="Microsoft YaHei"/>
              </a:rPr>
              <a:t>支持 CSR 读写与异常/mret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47872" y="1691640"/>
            <a:ext cx="2651760" cy="1828800"/>
          </a:xfrm>
          <a:prstGeom prst="roundRect">
            <a:avLst/>
          </a:prstGeom>
          <a:solidFill>
            <a:srgbClr val="1A2442"/>
          </a:solidFill>
          <a:ln w="15875">
            <a:solidFill>
              <a:srgbClr val="222E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47872" y="1691640"/>
            <a:ext cx="2651760" cy="109728"/>
          </a:xfrm>
          <a:prstGeom prst="roundRect">
            <a:avLst/>
          </a:prstGeom>
          <a:solidFill>
            <a:srgbClr val="FFB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1947672"/>
            <a:ext cx="22494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9AA6C0"/>
                </a:solidFill>
                <a:latin typeface="Microsoft YaHei"/>
              </a:rPr>
              <a:t>发射宽度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2240280"/>
            <a:ext cx="224942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B03A"/>
                </a:solidFill>
                <a:latin typeface="Microsoft YaHei"/>
              </a:rPr>
              <a:t>双发射 (2-way)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2715768"/>
            <a:ext cx="224942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DDE3F0"/>
                </a:solidFill>
                <a:latin typeface="Microsoft YaHei"/>
              </a:rPr>
              <a:t>每周期取指/译码 2 条指令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DDE3F0"/>
                </a:solidFill>
                <a:latin typeface="Microsoft YaHei"/>
              </a:rPr>
              <a:t>按 lane 拆分为两条独立通道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82512" y="1691640"/>
            <a:ext cx="2651760" cy="1828800"/>
          </a:xfrm>
          <a:prstGeom prst="roundRect">
            <a:avLst/>
          </a:prstGeom>
          <a:solidFill>
            <a:srgbClr val="1A2442"/>
          </a:solidFill>
          <a:ln w="15875">
            <a:solidFill>
              <a:srgbClr val="222E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82512" y="1691640"/>
            <a:ext cx="2651760" cy="109728"/>
          </a:xfrm>
          <a:prstGeom prst="roundRect">
            <a:avLst/>
          </a:prstGeom>
          <a:solidFill>
            <a:srgbClr val="5B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1947672"/>
            <a:ext cx="22494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9AA6C0"/>
                </a:solidFill>
                <a:latin typeface="Microsoft YaHei"/>
              </a:rPr>
              <a:t>微结构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240280"/>
            <a:ext cx="224942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5B9BFF"/>
                </a:solidFill>
                <a:latin typeface="Microsoft YaHei"/>
              </a:rPr>
              <a:t>多周期 5 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715768"/>
            <a:ext cx="224942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DDE3F0"/>
                </a:solidFill>
                <a:latin typeface="Microsoft YaHei"/>
              </a:rPr>
              <a:t>F→D→E→M→W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DDE3F0"/>
                </a:solidFill>
                <a:latin typeface="Microsoft YaHei"/>
              </a:rPr>
              <a:t>一次一包，级间寄存器隔离时序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17152" y="1691640"/>
            <a:ext cx="2651760" cy="1828800"/>
          </a:xfrm>
          <a:prstGeom prst="roundRect">
            <a:avLst/>
          </a:prstGeom>
          <a:solidFill>
            <a:srgbClr val="1A2442"/>
          </a:solidFill>
          <a:ln w="15875">
            <a:solidFill>
              <a:srgbClr val="222E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17152" y="1691640"/>
            <a:ext cx="2651760" cy="109728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1947672"/>
            <a:ext cx="22494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9AA6C0"/>
                </a:solidFill>
                <a:latin typeface="Microsoft YaHei"/>
              </a:rPr>
              <a:t>总线风格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2240280"/>
            <a:ext cx="224942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6B6B"/>
                </a:solidFill>
                <a:latin typeface="Microsoft YaHei"/>
              </a:rPr>
              <a:t>Decoupled + 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2715768"/>
            <a:ext cx="224942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DDE3F0"/>
                </a:solidFill>
                <a:latin typeface="Microsoft YaHei"/>
              </a:rPr>
              <a:t>valid/ready 握手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DDE3F0"/>
                </a:solidFill>
                <a:latin typeface="Microsoft YaHei"/>
              </a:rPr>
              <a:t>交出后 bits 清零，避免副作用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3794760"/>
            <a:ext cx="1078992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1">
                <a:solidFill>
                  <a:srgbClr val="2EC4B6"/>
                </a:solidFill>
                <a:latin typeface="Microsoft YaHei"/>
              </a:rPr>
              <a:t>▸  </a:t>
            </a:r>
            <a:r>
              <a:rPr sz="1500" b="1">
                <a:solidFill>
                  <a:srgbClr val="FFFFFF"/>
                </a:solidFill>
                <a:latin typeface="Microsoft YaHei"/>
              </a:rPr>
              <a:t>设计目标</a:t>
            </a:r>
            <a:r>
              <a:rPr sz="1300">
                <a:solidFill>
                  <a:srgbClr val="9AA6C0"/>
                </a:solidFill>
                <a:latin typeface="Microsoft YaHei"/>
              </a:rPr>
              <a:t>  在保持面积基本不变的前提下，通过级间切分把关键路径从 2.2 ns 压到约 1.05 ns，大幅提高主频。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1">
                <a:solidFill>
                  <a:srgbClr val="2EC4B6"/>
                </a:solidFill>
                <a:latin typeface="Microsoft YaHei"/>
              </a:rPr>
              <a:t>▸  </a:t>
            </a:r>
            <a:r>
              <a:rPr sz="1500" b="1">
                <a:solidFill>
                  <a:srgbClr val="FFFFFF"/>
                </a:solidFill>
                <a:latin typeface="Microsoft YaHei"/>
              </a:rPr>
              <a:t>核心特征</a:t>
            </a:r>
            <a:r>
              <a:rPr sz="1300">
                <a:solidFill>
                  <a:srgbClr val="9AA6C0"/>
                </a:solidFill>
                <a:latin typeface="Microsoft YaHei"/>
              </a:rPr>
              <a:t>  同构双发射、单套 EXU/LSU 交错复用、寄存器堆双端口写、独立 CSR 文件与异常通路。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1">
                <a:solidFill>
                  <a:srgbClr val="2EC4B6"/>
                </a:solidFill>
                <a:latin typeface="Microsoft YaHei"/>
              </a:rPr>
              <a:t>▸  </a:t>
            </a:r>
            <a:r>
              <a:rPr sz="1500" b="1">
                <a:solidFill>
                  <a:srgbClr val="FFFFFF"/>
                </a:solidFill>
                <a:latin typeface="Microsoft YaHei"/>
              </a:rPr>
              <a:t>实现语言</a:t>
            </a:r>
            <a:r>
              <a:rPr sz="1300">
                <a:solidFill>
                  <a:srgbClr val="9AA6C0"/>
                </a:solidFill>
                <a:latin typeface="Microsoft YaHei"/>
              </a:rPr>
              <a:t>  Chisel3 生成 SystemVerilog；存储器通过 DPI-C 黑盒与 C++ testbench 交互，便于仿真与 difftest。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64190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AA6C0"/>
                </a:solidFill>
                <a:latin typeface="Microsoft YaHei"/>
              </a:rPr>
              <a:t>R1322IAe-csr-multicycle 核心介绍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EC4B6"/>
                </a:solidFill>
                <a:latin typeface="Microsoft YaHei"/>
              </a:rPr>
              <a:t>MICROARCHITECTURE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76656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FFFFF"/>
                </a:solidFill>
                <a:latin typeface="Microsoft YaHei"/>
              </a:rPr>
              <a:t>整体架构：模块与数据通路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41148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200" b="1">
                <a:solidFill>
                  <a:srgbClr val="222E52"/>
                </a:solidFill>
                <a:latin typeface="Microsoft YaHei"/>
              </a:rP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298448"/>
            <a:ext cx="1005840" cy="41148"/>
          </a:xfrm>
          <a:prstGeom prst="rect">
            <a:avLst/>
          </a:prstGeom>
          <a:solidFill>
            <a:srgbClr val="FFB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1737360"/>
            <a:ext cx="1554480" cy="777240"/>
          </a:xfrm>
          <a:prstGeom prst="roundRect">
            <a:avLst/>
          </a:prstGeom>
          <a:solidFill>
            <a:srgbClr val="1A2442"/>
          </a:solidFill>
          <a:ln w="15875">
            <a:solidFill>
              <a:srgbClr val="9AA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DDE3F0"/>
                </a:solidFill>
                <a:latin typeface="Microsoft YaHei"/>
              </a:rPr>
              <a:t>IMEM
指令存储器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88920" y="1737360"/>
            <a:ext cx="1554480" cy="777240"/>
          </a:xfrm>
          <a:prstGeom prst="roundRect">
            <a:avLst/>
          </a:prstGeom>
          <a:solidFill>
            <a:srgbClr val="222E52"/>
          </a:solidFill>
          <a:ln w="15875">
            <a:solidFill>
              <a:srgbClr val="2E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IFU
取指单元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331720" y="2125980"/>
            <a:ext cx="457200" cy="0"/>
          </a:xfrm>
          <a:prstGeom prst="bentConnector3">
            <a:avLst/>
          </a:prstGeom>
          <a:ln w="20320">
            <a:solidFill>
              <a:srgbClr val="2EC4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800600" y="1737360"/>
            <a:ext cx="1737360" cy="777240"/>
          </a:xfrm>
          <a:prstGeom prst="roundRect">
            <a:avLst/>
          </a:prstGeom>
          <a:solidFill>
            <a:srgbClr val="222E52"/>
          </a:solidFill>
          <a:ln w="15875">
            <a:solidFill>
              <a:srgbClr val="2E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IDU
译码 + 冒险检测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343400" y="2125980"/>
            <a:ext cx="457200" cy="0"/>
          </a:xfrm>
          <a:prstGeom prst="bentConnector3">
            <a:avLst/>
          </a:prstGeom>
          <a:ln w="20320">
            <a:solidFill>
              <a:srgbClr val="2EC4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370832" y="14813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FB03A"/>
                </a:solidFill>
                <a:latin typeface="Microsoft YaHei"/>
              </a:rPr>
              <a:t>F/D 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9480" y="1417320"/>
            <a:ext cx="1828800" cy="731520"/>
          </a:xfrm>
          <a:prstGeom prst="roundRect">
            <a:avLst/>
          </a:prstGeom>
          <a:solidFill>
            <a:srgbClr val="222E52"/>
          </a:solidFill>
          <a:ln w="15875">
            <a:solidFill>
              <a:srgbClr val="FFB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50" b="1">
                <a:solidFill>
                  <a:srgbClr val="FFFFFF"/>
                </a:solidFill>
                <a:latin typeface="Microsoft YaHei"/>
              </a:rPr>
              <a:t>EXU1
ALU/分支/AGU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69480" y="2286000"/>
            <a:ext cx="1828800" cy="731520"/>
          </a:xfrm>
          <a:prstGeom prst="roundRect">
            <a:avLst/>
          </a:prstGeom>
          <a:solidFill>
            <a:srgbClr val="222E52"/>
          </a:solidFill>
          <a:ln w="15875">
            <a:solidFill>
              <a:srgbClr val="FFB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50" b="1">
                <a:solidFill>
                  <a:srgbClr val="FFFFFF"/>
                </a:solidFill>
                <a:latin typeface="Microsoft YaHei"/>
              </a:rPr>
              <a:t>EXU2
ALU/分支/AGU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6537960" y="1783080"/>
            <a:ext cx="731520" cy="228600"/>
          </a:xfrm>
          <a:prstGeom prst="bentConnector3">
            <a:avLst/>
          </a:prstGeom>
          <a:ln w="20320">
            <a:solidFill>
              <a:srgbClr val="FFB0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537960" y="2240280"/>
            <a:ext cx="731520" cy="411480"/>
          </a:xfrm>
          <a:prstGeom prst="bentConnector3">
            <a:avLst/>
          </a:prstGeom>
          <a:ln w="20320">
            <a:solidFill>
              <a:srgbClr val="FFB0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565392" y="2423160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FB03A"/>
                </a:solidFill>
                <a:latin typeface="Microsoft YaHei"/>
              </a:rPr>
              <a:t>D/E 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26880" y="960120"/>
            <a:ext cx="2148840" cy="731520"/>
          </a:xfrm>
          <a:prstGeom prst="roundRect">
            <a:avLst/>
          </a:prstGeom>
          <a:solidFill>
            <a:srgbClr val="1A2442"/>
          </a:solidFill>
          <a:ln w="15875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50" b="0">
                <a:solidFill>
                  <a:srgbClr val="DDE3F0"/>
                </a:solidFill>
                <a:latin typeface="Microsoft YaHei"/>
              </a:rPr>
              <a:t>CSR 文件
mstatus/mepc/mcause…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9098280" y="1325880"/>
            <a:ext cx="731520" cy="457200"/>
          </a:xfrm>
          <a:prstGeom prst="bentConnector3">
            <a:avLst/>
          </a:prstGeom>
          <a:ln w="16510">
            <a:solidFill>
              <a:srgbClr val="FF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269480" y="3383280"/>
            <a:ext cx="1828800" cy="731520"/>
          </a:xfrm>
          <a:prstGeom prst="roundRect">
            <a:avLst/>
          </a:prstGeom>
          <a:solidFill>
            <a:srgbClr val="222E52"/>
          </a:solidFill>
          <a:ln w="15875">
            <a:solidFill>
              <a:srgbClr val="5B9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50" b="1">
                <a:solidFill>
                  <a:srgbClr val="FFFFFF"/>
                </a:solidFill>
                <a:latin typeface="Microsoft YaHei"/>
              </a:rPr>
              <a:t>LSU1
访存/对齐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69480" y="4251960"/>
            <a:ext cx="1828800" cy="731520"/>
          </a:xfrm>
          <a:prstGeom prst="roundRect">
            <a:avLst/>
          </a:prstGeom>
          <a:solidFill>
            <a:srgbClr val="222E52"/>
          </a:solidFill>
          <a:ln w="15875">
            <a:solidFill>
              <a:srgbClr val="5B9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50" b="1">
                <a:solidFill>
                  <a:srgbClr val="FFFFFF"/>
                </a:solidFill>
                <a:latin typeface="Microsoft YaHei"/>
              </a:rPr>
              <a:t>LSU2
访存/对齐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183879" y="2148840"/>
            <a:ext cx="0" cy="1234440"/>
          </a:xfrm>
          <a:prstGeom prst="bentConnector3">
            <a:avLst/>
          </a:prstGeom>
          <a:ln w="20320">
            <a:solidFill>
              <a:srgbClr val="5B9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183879" y="3017520"/>
            <a:ext cx="0" cy="1234440"/>
          </a:xfrm>
          <a:prstGeom prst="bentConnector3">
            <a:avLst/>
          </a:prstGeom>
          <a:ln w="20320">
            <a:solidFill>
              <a:srgbClr val="5B9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247888" y="305409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B9BFF"/>
                </a:solidFill>
                <a:latin typeface="Microsoft YaHei"/>
              </a:rPr>
              <a:t>E/M 桥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829800" y="3383280"/>
            <a:ext cx="1645920" cy="731520"/>
          </a:xfrm>
          <a:prstGeom prst="roundRect">
            <a:avLst/>
          </a:prstGeom>
          <a:solidFill>
            <a:srgbClr val="1A2442"/>
          </a:solidFill>
          <a:ln w="15875">
            <a:solidFill>
              <a:srgbClr val="9AA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DDE3F0"/>
                </a:solidFill>
                <a:latin typeface="Microsoft YaHei"/>
              </a:rPr>
              <a:t>DMEM
数据存储器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098280" y="3749039"/>
            <a:ext cx="731520" cy="0"/>
          </a:xfrm>
          <a:prstGeom prst="bentConnector3">
            <a:avLst/>
          </a:prstGeom>
          <a:ln w="16510">
            <a:solidFill>
              <a:srgbClr val="5B9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9098280" y="4526280"/>
            <a:ext cx="731520" cy="91440"/>
          </a:xfrm>
          <a:prstGeom prst="bentConnector3">
            <a:avLst/>
          </a:prstGeom>
          <a:ln w="16510">
            <a:solidFill>
              <a:srgbClr val="5B9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572000" y="3822191"/>
            <a:ext cx="1645920" cy="731520"/>
          </a:xfrm>
          <a:prstGeom prst="roundRect">
            <a:avLst/>
          </a:prstGeom>
          <a:solidFill>
            <a:srgbClr val="222E52"/>
          </a:solidFill>
          <a:ln w="15875">
            <a:solidFill>
              <a:srgbClr val="2E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WBU
写回合并</a:t>
            </a:r>
          </a:p>
        </p:txBody>
      </p:sp>
      <p:cxnSp>
        <p:nvCxnSpPr>
          <p:cNvPr id="30" name="Connector 29"/>
          <p:cNvCxnSpPr/>
          <p:nvPr/>
        </p:nvCxnSpPr>
        <p:spPr>
          <a:xfrm flipH="1">
            <a:off x="6217920" y="3749039"/>
            <a:ext cx="1051560" cy="292609"/>
          </a:xfrm>
          <a:prstGeom prst="bentConnector3">
            <a:avLst/>
          </a:prstGeom>
          <a:ln w="20320">
            <a:solidFill>
              <a:srgbClr val="2EC4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 flipV="1">
            <a:off x="6217920" y="4315968"/>
            <a:ext cx="1051560" cy="301752"/>
          </a:xfrm>
          <a:prstGeom prst="bentConnector3">
            <a:avLst/>
          </a:prstGeom>
          <a:ln w="20320">
            <a:solidFill>
              <a:srgbClr val="2EC4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263640" y="46177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FFB03A"/>
                </a:solidFill>
                <a:latin typeface="Microsoft YaHei"/>
              </a:rPr>
              <a:t>M/W 桥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468880" y="3822191"/>
            <a:ext cx="1645920" cy="731520"/>
          </a:xfrm>
          <a:prstGeom prst="roundRect">
            <a:avLst/>
          </a:prstGeom>
          <a:solidFill>
            <a:srgbClr val="222E52"/>
          </a:solidFill>
          <a:ln w="15875">
            <a:solidFill>
              <a:srgbClr val="2E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GRF
双写端口寄存器堆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4114800" y="4187952"/>
            <a:ext cx="457200" cy="0"/>
          </a:xfrm>
          <a:prstGeom prst="bentConnector3">
            <a:avLst/>
          </a:prstGeom>
          <a:ln w="20320">
            <a:solidFill>
              <a:srgbClr val="2EC4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2743200" y="2514600"/>
            <a:ext cx="2651760" cy="1307591"/>
          </a:xfrm>
          <a:prstGeom prst="bentConnector3">
            <a:avLst/>
          </a:prstGeom>
          <a:ln w="15240">
            <a:solidFill>
              <a:srgbClr val="9AA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2743200" y="28803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AA6C0"/>
                </a:solidFill>
                <a:latin typeface="Microsoft YaHei"/>
              </a:rPr>
              <a:t>GRF 读回 IDU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5166360"/>
            <a:ext cx="1088136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50" b="1">
                <a:solidFill>
                  <a:srgbClr val="2EC4B6"/>
                </a:solidFill>
                <a:latin typeface="Microsoft YaHei"/>
              </a:rPr>
              <a:t>▸  </a:t>
            </a:r>
            <a:r>
              <a:rPr sz="1250">
                <a:solidFill>
                  <a:srgbClr val="DDE3F0"/>
                </a:solidFill>
                <a:latin typeface="Microsoft YaHei"/>
              </a:rPr>
              <a:t>全部级间接口统一为 Decoupled 消息；IDU 之后按 lane 拆成两条单 lane 消息（D/E、E/M、M/W）。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50" b="1">
                <a:solidFill>
                  <a:srgbClr val="2EC4B6"/>
                </a:solidFill>
                <a:latin typeface="Microsoft YaHei"/>
              </a:rPr>
              <a:t>▸  </a:t>
            </a:r>
            <a:r>
              <a:rPr sz="1250">
                <a:solidFill>
                  <a:srgbClr val="DDE3F0"/>
                </a:solidFill>
                <a:latin typeface="Microsoft YaHei"/>
              </a:rPr>
              <a:t>CSR 写回与异常跳转由 EXU1 在 top 层直连 GRF 与 IFU，独立于普通写回通路。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232" y="64190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AA6C0"/>
                </a:solidFill>
                <a:latin typeface="Microsoft YaHei"/>
              </a:rPr>
              <a:t>R1322IAe-csr-multicycle 核心介绍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EC4B6"/>
                </a:solidFill>
                <a:latin typeface="Microsoft YaHei"/>
              </a:rPr>
              <a:t>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76656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FFFFF"/>
                </a:solidFill>
                <a:latin typeface="Microsoft YaHei"/>
              </a:rPr>
              <a:t>多周期流水：F → D → E → M → 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41148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200" b="1">
                <a:solidFill>
                  <a:srgbClr val="222E52"/>
                </a:solidFill>
                <a:latin typeface="Microsoft YaHei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298448"/>
            <a:ext cx="1005840" cy="41148"/>
          </a:xfrm>
          <a:prstGeom prst="rect">
            <a:avLst/>
          </a:prstGeom>
          <a:solidFill>
            <a:srgbClr val="FFB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965960"/>
            <a:ext cx="2121408" cy="1828800"/>
          </a:xfrm>
          <a:prstGeom prst="roundRect">
            <a:avLst/>
          </a:prstGeom>
          <a:solidFill>
            <a:srgbClr val="1A2442"/>
          </a:solidFill>
          <a:ln w="15875">
            <a:solidFill>
              <a:srgbClr val="2E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65960"/>
            <a:ext cx="2121408" cy="128016"/>
          </a:xfrm>
          <a:prstGeom prst="round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58568"/>
            <a:ext cx="21214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2EC4B6"/>
                </a:solidFill>
                <a:latin typeface="Microsoft YaHei"/>
              </a:rPr>
              <a:t>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807208"/>
            <a:ext cx="21214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取指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99815"/>
            <a:ext cx="212140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9AA6C0"/>
                </a:solidFill>
                <a:latin typeface="Microsoft YaHei"/>
              </a:rPr>
              <a:t>IFU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3337560"/>
            <a:ext cx="182879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DDE3F0"/>
                </a:solidFill>
                <a:latin typeface="Microsoft YaHei"/>
              </a:rPr>
              <a:t>PC 与 PC+4 双端口读 IMEM，最多取两条指令打包成 IFU_to_IDU 消息。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766059" y="2715768"/>
            <a:ext cx="109728" cy="310896"/>
          </a:xfrm>
          <a:prstGeom prst="rightArrow">
            <a:avLst/>
          </a:prstGeom>
          <a:solidFill>
            <a:srgbClr val="22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880359" y="1965960"/>
            <a:ext cx="2121408" cy="1828800"/>
          </a:xfrm>
          <a:prstGeom prst="roundRect">
            <a:avLst/>
          </a:prstGeom>
          <a:solidFill>
            <a:srgbClr val="1A2442"/>
          </a:solidFill>
          <a:ln w="15875">
            <a:solidFill>
              <a:srgbClr val="FFB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80359" y="1965960"/>
            <a:ext cx="2121408" cy="128016"/>
          </a:xfrm>
          <a:prstGeom prst="roundRect">
            <a:avLst/>
          </a:prstGeom>
          <a:solidFill>
            <a:srgbClr val="FFB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59" y="2258568"/>
            <a:ext cx="21214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FB03A"/>
                </a:solidFill>
                <a:latin typeface="Microsoft YaHei"/>
              </a:rPr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359" y="2807208"/>
            <a:ext cx="21214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译码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359" y="3099815"/>
            <a:ext cx="212140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9AA6C0"/>
                </a:solidFill>
                <a:latin typeface="Microsoft YaHei"/>
              </a:rPr>
              <a:t>IDU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26663" y="3337560"/>
            <a:ext cx="182879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DDE3F0"/>
                </a:solidFill>
                <a:latin typeface="Microsoft YaHei"/>
              </a:rPr>
              <a:t>并行译码两条指令（decoder×2），冒险检测后由总线按 lane 分发。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5006339" y="2715768"/>
            <a:ext cx="109728" cy="310896"/>
          </a:xfrm>
          <a:prstGeom prst="rightArrow">
            <a:avLst/>
          </a:prstGeom>
          <a:solidFill>
            <a:srgbClr val="22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120640" y="1965960"/>
            <a:ext cx="2121408" cy="1828800"/>
          </a:xfrm>
          <a:prstGeom prst="roundRect">
            <a:avLst/>
          </a:prstGeom>
          <a:solidFill>
            <a:srgbClr val="1A2442"/>
          </a:solidFill>
          <a:ln w="15875">
            <a:solidFill>
              <a:srgbClr val="5B9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20640" y="1965960"/>
            <a:ext cx="2121408" cy="128016"/>
          </a:xfrm>
          <a:prstGeom prst="roundRect">
            <a:avLst/>
          </a:prstGeom>
          <a:solidFill>
            <a:srgbClr val="5B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2258568"/>
            <a:ext cx="21214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5B9BFF"/>
                </a:solidFill>
                <a:latin typeface="Microsoft YaHei"/>
              </a:rPr>
              <a:t>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2807208"/>
            <a:ext cx="21214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执行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0" y="3099815"/>
            <a:ext cx="212140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9AA6C0"/>
                </a:solidFill>
                <a:latin typeface="Microsoft YaHei"/>
              </a:rPr>
              <a:t>EXU ×2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66944" y="3337560"/>
            <a:ext cx="182879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DDE3F0"/>
                </a:solidFill>
                <a:latin typeface="Microsoft YaHei"/>
              </a:rPr>
              <a:t>ALU / 分支比较 / 取指目标 / 访存地址生成，并处理 CSR 读写与异常。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7246620" y="2715768"/>
            <a:ext cx="109728" cy="310896"/>
          </a:xfrm>
          <a:prstGeom prst="rightArrow">
            <a:avLst/>
          </a:prstGeom>
          <a:solidFill>
            <a:srgbClr val="22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60919" y="1965960"/>
            <a:ext cx="2121408" cy="1828800"/>
          </a:xfrm>
          <a:prstGeom prst="roundRect">
            <a:avLst/>
          </a:prstGeom>
          <a:solidFill>
            <a:srgbClr val="1A2442"/>
          </a:solidFill>
          <a:ln w="15875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60919" y="1965960"/>
            <a:ext cx="2121408" cy="128016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60919" y="2258568"/>
            <a:ext cx="21214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F6B6B"/>
                </a:solidFill>
                <a:latin typeface="Microsoft YaHei"/>
              </a:rPr>
              <a:t>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60919" y="2807208"/>
            <a:ext cx="21214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访存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60919" y="3099815"/>
            <a:ext cx="212140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9AA6C0"/>
                </a:solidFill>
                <a:latin typeface="Microsoft YaHei"/>
              </a:rPr>
              <a:t>LSU ×2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07223" y="3337560"/>
            <a:ext cx="182879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DDE3F0"/>
                </a:solidFill>
                <a:latin typeface="Microsoft YaHei"/>
              </a:rPr>
              <a:t>字节/半字/字对齐与移位掩码，读数据按小端选择扩展。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9486900" y="2715768"/>
            <a:ext cx="109728" cy="310896"/>
          </a:xfrm>
          <a:prstGeom prst="rightArrow">
            <a:avLst/>
          </a:prstGeom>
          <a:solidFill>
            <a:srgbClr val="22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601199" y="1965960"/>
            <a:ext cx="2121408" cy="1828800"/>
          </a:xfrm>
          <a:prstGeom prst="roundRect">
            <a:avLst/>
          </a:prstGeom>
          <a:solidFill>
            <a:srgbClr val="1A2442"/>
          </a:solidFill>
          <a:ln w="15875">
            <a:solidFill>
              <a:srgbClr val="2E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601199" y="1965960"/>
            <a:ext cx="2121408" cy="128016"/>
          </a:xfrm>
          <a:prstGeom prst="round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199" y="2258568"/>
            <a:ext cx="21214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2EC4B6"/>
                </a:solidFill>
                <a:latin typeface="Microsoft YaHei"/>
              </a:rPr>
              <a:t>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199" y="2807208"/>
            <a:ext cx="21214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写回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199" y="3099815"/>
            <a:ext cx="212140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9AA6C0"/>
                </a:solidFill>
                <a:latin typeface="Microsoft YaHei"/>
              </a:rPr>
              <a:t>WBU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47503" y="3337560"/>
            <a:ext cx="182879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DDE3F0"/>
                </a:solidFill>
                <a:latin typeface="Microsoft YaHei"/>
              </a:rPr>
              <a:t>合并两 lane 写回冲突，驱动 GRF 双写端口，rd=0 自动屏蔽。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40690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EC4B6"/>
                </a:solidFill>
                <a:latin typeface="Microsoft YaHei"/>
              </a:rPr>
              <a:t>级间：StageConnectBridge —— 1 深度握手桥（valid/ready，交出后 bits 清零）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4526280"/>
            <a:ext cx="108813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50" b="1">
                <a:solidFill>
                  <a:srgbClr val="2EC4B6"/>
                </a:solidFill>
                <a:latin typeface="Microsoft YaHei"/>
              </a:rPr>
              <a:t>▸  </a:t>
            </a:r>
            <a:r>
              <a:rPr sz="1350" b="1">
                <a:solidFill>
                  <a:srgbClr val="FFFFFF"/>
                </a:solidFill>
                <a:latin typeface="Microsoft YaHei"/>
              </a:rPr>
              <a:t>时序隔离</a:t>
            </a:r>
            <a:r>
              <a:rPr sz="1150">
                <a:solidFill>
                  <a:srgbClr val="9AA6C0"/>
                </a:solidFill>
                <a:latin typeface="Microsoft YaHei"/>
              </a:rPr>
              <a:t>  每一级之间插入寄存器，把原本 2.2 ns 的组合链切成 ~1.05 ns 的最长段。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50" b="1">
                <a:solidFill>
                  <a:srgbClr val="2EC4B6"/>
                </a:solidFill>
                <a:latin typeface="Microsoft YaHei"/>
              </a:rPr>
              <a:t>▸  </a:t>
            </a:r>
            <a:r>
              <a:rPr sz="1350" b="1">
                <a:solidFill>
                  <a:srgbClr val="FFFFFF"/>
                </a:solidFill>
                <a:latin typeface="Microsoft YaHei"/>
              </a:rPr>
              <a:t>一次一包</a:t>
            </a:r>
            <a:r>
              <a:rPr sz="1150">
                <a:solidFill>
                  <a:srgbClr val="9AA6C0"/>
                </a:solidFill>
                <a:latin typeface="Microsoft YaHei"/>
              </a:rPr>
              <a:t>  分布式多周期：一个包（最多 2 条指令）依次走完 5 级，级间不重叠。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50" b="1">
                <a:solidFill>
                  <a:srgbClr val="2EC4B6"/>
                </a:solidFill>
                <a:latin typeface="Microsoft YaHei"/>
              </a:rPr>
              <a:t>▸  </a:t>
            </a:r>
            <a:r>
              <a:rPr sz="1350" b="1">
                <a:solidFill>
                  <a:srgbClr val="FFFFFF"/>
                </a:solidFill>
                <a:latin typeface="Microsoft YaHei"/>
              </a:rPr>
              <a:t>冒险在 D 级统一仲裁</a:t>
            </a:r>
            <a:r>
              <a:rPr sz="1150">
                <a:solidFill>
                  <a:srgbClr val="9AA6C0"/>
                </a:solidFill>
                <a:latin typeface="Microsoft YaHei"/>
              </a:rPr>
              <a:t>  包内 RAW、内存依赖、控制指令单发射、bank 冲突均由 IDU 判决并产生 stall。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3232" y="64190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AA6C0"/>
                </a:solidFill>
                <a:latin typeface="Microsoft YaHei"/>
              </a:rPr>
              <a:t>R1322IAe-csr-multicycle 核心介绍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EC4B6"/>
                </a:solidFill>
                <a:latin typeface="Microsoft YaHei"/>
              </a:rPr>
              <a:t>DUAL ISSUE &amp; HAZARD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76656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FFFFF"/>
                </a:solidFill>
                <a:latin typeface="Microsoft YaHei"/>
              </a:rPr>
              <a:t>双发射与冒险处理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41148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200" b="1">
                <a:solidFill>
                  <a:srgbClr val="222E52"/>
                </a:solidFill>
                <a:latin typeface="Microsoft YaHei"/>
              </a:rPr>
              <a:t>05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298448"/>
            <a:ext cx="1005840" cy="41148"/>
          </a:xfrm>
          <a:prstGeom prst="rect">
            <a:avLst/>
          </a:prstGeom>
          <a:solidFill>
            <a:srgbClr val="FFB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5257800" cy="4480560"/>
          </a:xfrm>
          <a:prstGeom prst="roundRect">
            <a:avLst/>
          </a:prstGeom>
          <a:solidFill>
            <a:srgbClr val="1A2442"/>
          </a:solidFill>
          <a:ln w="15875">
            <a:solidFill>
              <a:srgbClr val="222E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874519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EC4B6"/>
                </a:solidFill>
                <a:latin typeface="Microsoft YaHei"/>
              </a:rPr>
              <a:t>冒险检测（IDU 组合逻辑）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2331720"/>
            <a:ext cx="4800600" cy="566928"/>
          </a:xfrm>
          <a:prstGeom prst="roundRect">
            <a:avLst>
              <a:gd name="adj" fmla="val 18000"/>
            </a:avLst>
          </a:prstGeom>
          <a:solidFill>
            <a:srgbClr val="22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2331720"/>
            <a:ext cx="73152" cy="566928"/>
          </a:xfrm>
          <a:prstGeom prst="roundRect">
            <a:avLst/>
          </a:prstGeom>
          <a:solidFill>
            <a:srgbClr val="FFB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" y="2414015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包内 RAW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386584"/>
            <a:ext cx="29260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9AA6C0"/>
                </a:solidFill>
                <a:latin typeface="Microsoft YaHei"/>
              </a:rPr>
              <a:t>inst1 写 rd 且被 inst2 用作源 → 单发射重发 inst2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" y="2971800"/>
            <a:ext cx="4800600" cy="566928"/>
          </a:xfrm>
          <a:prstGeom prst="roundRect">
            <a:avLst>
              <a:gd name="adj" fmla="val 18000"/>
            </a:avLst>
          </a:prstGeom>
          <a:solidFill>
            <a:srgbClr val="22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" y="2971800"/>
            <a:ext cx="73152" cy="566928"/>
          </a:xfrm>
          <a:prstGeom prst="roundRect">
            <a:avLst/>
          </a:prstGeom>
          <a:solidFill>
            <a:srgbClr val="FFB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432" y="3054096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内存依赖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026664"/>
            <a:ext cx="29260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9AA6C0"/>
                </a:solidFill>
                <a:latin typeface="Microsoft YaHei"/>
              </a:rPr>
              <a:t>store1→load2 同地址 ramraw、store→store WAW 单发射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" y="3611880"/>
            <a:ext cx="4800600" cy="566928"/>
          </a:xfrm>
          <a:prstGeom prst="roundRect">
            <a:avLst>
              <a:gd name="adj" fmla="val 18000"/>
            </a:avLst>
          </a:prstGeom>
          <a:solidFill>
            <a:srgbClr val="22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0120" y="3611880"/>
            <a:ext cx="73152" cy="566928"/>
          </a:xfrm>
          <a:prstGeom prst="roundRect">
            <a:avLst/>
          </a:prstGeom>
          <a:solidFill>
            <a:srgbClr val="FFB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0432" y="3694176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bank 冲突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3666744"/>
            <a:ext cx="29260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9AA6C0"/>
                </a:solidFill>
                <a:latin typeface="Microsoft YaHei"/>
              </a:rPr>
              <a:t>两条 load 的地址低位相同，避免双读口冲突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0120" y="4251960"/>
            <a:ext cx="4800600" cy="566928"/>
          </a:xfrm>
          <a:prstGeom prst="roundRect">
            <a:avLst>
              <a:gd name="adj" fmla="val 18000"/>
            </a:avLst>
          </a:prstGeom>
          <a:solidFill>
            <a:srgbClr val="22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0120" y="4251960"/>
            <a:ext cx="73152" cy="566928"/>
          </a:xfrm>
          <a:prstGeom prst="roundRect">
            <a:avLst/>
          </a:prstGeom>
          <a:solidFill>
            <a:srgbClr val="FFB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70432" y="4334256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控制指令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4306824"/>
            <a:ext cx="29260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9AA6C0"/>
                </a:solidFill>
                <a:latin typeface="Microsoft YaHei"/>
              </a:rPr>
              <a:t>lane1 为分支/jal/jalr/CSR/ecall/mret → 强制单发射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0120" y="4892040"/>
            <a:ext cx="4800600" cy="566928"/>
          </a:xfrm>
          <a:prstGeom prst="roundRect">
            <a:avLst>
              <a:gd name="adj" fmla="val 18000"/>
            </a:avLst>
          </a:prstGeom>
          <a:solidFill>
            <a:srgbClr val="22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0120" y="4892040"/>
            <a:ext cx="73152" cy="566928"/>
          </a:xfrm>
          <a:prstGeom prst="roundRect">
            <a:avLst/>
          </a:prstGeom>
          <a:solidFill>
            <a:srgbClr val="FFB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70432" y="4974336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lane2 控制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0" y="4946904"/>
            <a:ext cx="29260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9AA6C0"/>
                </a:solidFill>
                <a:latin typeface="Microsoft YaHei"/>
              </a:rPr>
              <a:t>inst2 不能单独跳转，遇到控制指令也降级为单发射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0120" y="5532120"/>
            <a:ext cx="4800600" cy="566928"/>
          </a:xfrm>
          <a:prstGeom prst="roundRect">
            <a:avLst>
              <a:gd name="adj" fmla="val 18000"/>
            </a:avLst>
          </a:prstGeom>
          <a:solidFill>
            <a:srgbClr val="22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0120" y="5532120"/>
            <a:ext cx="73152" cy="566928"/>
          </a:xfrm>
          <a:prstGeom prst="roundRect">
            <a:avLst/>
          </a:prstGeom>
          <a:solidFill>
            <a:srgbClr val="FFB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70432" y="5614416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立即数 bank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0" y="5586984"/>
            <a:ext cx="29260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9AA6C0"/>
                </a:solidFill>
                <a:latin typeface="Microsoft YaHei"/>
              </a:rPr>
              <a:t>地址低位 = imm[0] ^ rs1[0]，提前预判存储体冲突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63640" y="1691640"/>
            <a:ext cx="5212080" cy="4480560"/>
          </a:xfrm>
          <a:prstGeom prst="roundRect">
            <a:avLst/>
          </a:prstGeom>
          <a:solidFill>
            <a:srgbClr val="1A2442"/>
          </a:solidFill>
          <a:ln w="15875">
            <a:solidFill>
              <a:srgbClr val="222E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1874519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B03A"/>
                </a:solidFill>
                <a:latin typeface="Microsoft YaHei"/>
              </a:rPr>
              <a:t>指令分发：一路两条、按 lane 拆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0" y="2468880"/>
            <a:ext cx="2148840" cy="685800"/>
          </a:xfrm>
          <a:prstGeom prst="roundRect">
            <a:avLst/>
          </a:prstGeom>
          <a:solidFill>
            <a:srgbClr val="222E52"/>
          </a:solidFill>
          <a:ln w="15875">
            <a:solidFill>
              <a:srgbClr val="2E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inst1 (lane1)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15400" y="2468880"/>
            <a:ext cx="2148840" cy="685800"/>
          </a:xfrm>
          <a:prstGeom prst="roundRect">
            <a:avLst/>
          </a:prstGeom>
          <a:solidFill>
            <a:srgbClr val="222E52"/>
          </a:solidFill>
          <a:ln w="15875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inst2 (lane2)</a:t>
            </a:r>
          </a:p>
        </p:txBody>
      </p:sp>
      <p:sp>
        <p:nvSpPr>
          <p:cNvPr id="38" name="Down Arrow 37"/>
          <p:cNvSpPr/>
          <p:nvPr/>
        </p:nvSpPr>
        <p:spPr>
          <a:xfrm>
            <a:off x="7498079" y="3246120"/>
            <a:ext cx="365760" cy="502920"/>
          </a:xfrm>
          <a:prstGeom prst="downArrow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Down Arrow 38"/>
          <p:cNvSpPr/>
          <p:nvPr/>
        </p:nvSpPr>
        <p:spPr>
          <a:xfrm>
            <a:off x="9829800" y="3246120"/>
            <a:ext cx="365760" cy="502920"/>
          </a:xfrm>
          <a:prstGeom prst="downArrow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583680" y="3840480"/>
            <a:ext cx="2148840" cy="685800"/>
          </a:xfrm>
          <a:prstGeom prst="roundRect">
            <a:avLst/>
          </a:prstGeom>
          <a:solidFill>
            <a:srgbClr val="222E52"/>
          </a:solidFill>
          <a:ln w="15875">
            <a:solidFill>
              <a:srgbClr val="2E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DDE3F0"/>
                </a:solidFill>
                <a:latin typeface="Microsoft YaHei"/>
              </a:rPr>
              <a:t>EXU1 → LSU1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915400" y="3840480"/>
            <a:ext cx="2148840" cy="685800"/>
          </a:xfrm>
          <a:prstGeom prst="roundRect">
            <a:avLst/>
          </a:prstGeom>
          <a:solidFill>
            <a:srgbClr val="222E52"/>
          </a:solidFill>
          <a:ln w="15875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>
                <a:solidFill>
                  <a:srgbClr val="DDE3F0"/>
                </a:solidFill>
                <a:latin typeface="Microsoft YaHei"/>
              </a:rPr>
              <a:t>EXU2 → LSU2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0" y="4709160"/>
            <a:ext cx="4480560" cy="685800"/>
          </a:xfrm>
          <a:prstGeom prst="roundRect">
            <a:avLst/>
          </a:prstGeom>
          <a:solidFill>
            <a:srgbClr val="222E52"/>
          </a:solidFill>
          <a:ln w="15875">
            <a:solidFill>
              <a:srgbClr val="FFB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WBU 合并写回  →  GRF（wr1 / wr2 + CSR 写口）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7658100" y="4526280"/>
            <a:ext cx="0" cy="182880"/>
          </a:xfrm>
          <a:prstGeom prst="bentConnector3">
            <a:avLst/>
          </a:prstGeom>
          <a:ln w="20320">
            <a:solidFill>
              <a:srgbClr val="2EC4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9989820" y="4526280"/>
            <a:ext cx="0" cy="182880"/>
          </a:xfrm>
          <a:prstGeom prst="bentConnector3">
            <a:avLst/>
          </a:prstGeom>
          <a:ln w="20320">
            <a:solidFill>
              <a:srgbClr val="FF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6537960" y="5532120"/>
            <a:ext cx="4754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AA6C0"/>
                </a:solidFill>
                <a:latin typeface="Microsoft YaHei"/>
              </a:rPr>
              <a:t>同构双发射：两 lane 使用相同 EXU/LSU 实例，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9AA6C0"/>
                </a:solidFill>
                <a:latin typeface="Microsoft YaHei"/>
              </a:rPr>
              <a:t>指令 1 优先，指令 2 在冲突时被清零取消。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3232" y="64190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AA6C0"/>
                </a:solidFill>
                <a:latin typeface="Microsoft YaHei"/>
              </a:rPr>
              <a:t>R1322IAe-csr-multicycle 核心介绍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EC4B6"/>
                </a:solidFill>
                <a:latin typeface="Microsoft YaHei"/>
              </a:rPr>
              <a:t>CSR &amp; EXCEPTION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76656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FFFFF"/>
                </a:solidFill>
                <a:latin typeface="Microsoft YaHei"/>
              </a:rPr>
              <a:t>CSR 文件与异常支持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41148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200" b="1">
                <a:solidFill>
                  <a:srgbClr val="222E52"/>
                </a:solidFill>
                <a:latin typeface="Microsoft YaHei"/>
              </a:rPr>
              <a:t>06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298448"/>
            <a:ext cx="1005840" cy="41148"/>
          </a:xfrm>
          <a:prstGeom prst="rect">
            <a:avLst/>
          </a:prstGeom>
          <a:solidFill>
            <a:srgbClr val="FFB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5486400" cy="4480560"/>
          </a:xfrm>
          <a:prstGeom prst="roundRect">
            <a:avLst/>
          </a:prstGeom>
          <a:solidFill>
            <a:srgbClr val="1A2442"/>
          </a:solidFill>
          <a:ln w="15875">
            <a:solidFill>
              <a:srgbClr val="222E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874519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EC4B6"/>
                </a:solidFill>
                <a:latin typeface="Microsoft YaHei"/>
              </a:rPr>
              <a:t>实现的 CSR 寄存器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2331720"/>
            <a:ext cx="5029200" cy="530352"/>
          </a:xfrm>
          <a:prstGeom prst="roundRect">
            <a:avLst>
              <a:gd name="adj" fmla="val 20000"/>
            </a:avLst>
          </a:prstGeom>
          <a:solidFill>
            <a:srgbClr val="22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386584"/>
            <a:ext cx="32918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mstatus / misa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60" y="2386584"/>
            <a:ext cx="16459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AA6C0"/>
                </a:solidFill>
                <a:latin typeface="Microsoft YaHei"/>
              </a:rPr>
              <a:t>状态与 ISA 标识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2935224"/>
            <a:ext cx="5029200" cy="530352"/>
          </a:xfrm>
          <a:prstGeom prst="roundRect">
            <a:avLst>
              <a:gd name="adj" fmla="val 20000"/>
            </a:avLst>
          </a:prstGeom>
          <a:solidFill>
            <a:srgbClr val="22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990088"/>
            <a:ext cx="32918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mie / mip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2990088"/>
            <a:ext cx="16459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AA6C0"/>
                </a:solidFill>
                <a:latin typeface="Microsoft YaHei"/>
              </a:rPr>
              <a:t>中断使能与挂起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" y="3538728"/>
            <a:ext cx="5029200" cy="530352"/>
          </a:xfrm>
          <a:prstGeom prst="roundRect">
            <a:avLst>
              <a:gd name="adj" fmla="val 20000"/>
            </a:avLst>
          </a:prstGeom>
          <a:solidFill>
            <a:srgbClr val="22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593592"/>
            <a:ext cx="32918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mtvec / mepc / mcause / mtval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1960" y="3593592"/>
            <a:ext cx="16459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AA6C0"/>
                </a:solidFill>
                <a:latin typeface="Microsoft YaHei"/>
              </a:rPr>
              <a:t>异常向量、返回地址、原因、附加值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0120" y="4142232"/>
            <a:ext cx="5029200" cy="530352"/>
          </a:xfrm>
          <a:prstGeom prst="roundRect">
            <a:avLst>
              <a:gd name="adj" fmla="val 20000"/>
            </a:avLst>
          </a:prstGeom>
          <a:solidFill>
            <a:srgbClr val="22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197096"/>
            <a:ext cx="32918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mscratch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4197096"/>
            <a:ext cx="16459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AA6C0"/>
                </a:solidFill>
                <a:latin typeface="Microsoft YaHei"/>
              </a:rPr>
              <a:t>机器模式暂存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0120" y="4745736"/>
            <a:ext cx="5029200" cy="530352"/>
          </a:xfrm>
          <a:prstGeom prst="roundRect">
            <a:avLst>
              <a:gd name="adj" fmla="val 20000"/>
            </a:avLst>
          </a:prstGeom>
          <a:solidFill>
            <a:srgbClr val="22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4800600"/>
            <a:ext cx="32918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mcycle / mcycleh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51960" y="4800600"/>
            <a:ext cx="16459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AA6C0"/>
                </a:solidFill>
                <a:latin typeface="Microsoft YaHei"/>
              </a:rPr>
              <a:t>周期计数器（64 位）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0120" y="5349240"/>
            <a:ext cx="5029200" cy="530352"/>
          </a:xfrm>
          <a:prstGeom prst="roundRect">
            <a:avLst>
              <a:gd name="adj" fmla="val 20000"/>
            </a:avLst>
          </a:prstGeom>
          <a:solidFill>
            <a:srgbClr val="22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5404104"/>
            <a:ext cx="32918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minstret / minstreth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5404104"/>
            <a:ext cx="16459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AA6C0"/>
                </a:solidFill>
                <a:latin typeface="Microsoft YaHei"/>
              </a:rPr>
              <a:t>退休指令计数（64 位）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0120" y="5952744"/>
            <a:ext cx="5029200" cy="530352"/>
          </a:xfrm>
          <a:prstGeom prst="roundRect">
            <a:avLst>
              <a:gd name="adj" fmla="val 20000"/>
            </a:avLst>
          </a:prstGeom>
          <a:solidFill>
            <a:srgbClr val="22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6007608"/>
            <a:ext cx="32918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mvendorid / marchid / mimpid / mhartid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6007608"/>
            <a:ext cx="16459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AA6C0"/>
                </a:solidFill>
                <a:latin typeface="Microsoft YaHei"/>
              </a:rPr>
              <a:t>只读标识寄存器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92240" y="1691640"/>
            <a:ext cx="4983480" cy="4480560"/>
          </a:xfrm>
          <a:prstGeom prst="roundRect">
            <a:avLst/>
          </a:prstGeom>
          <a:solidFill>
            <a:srgbClr val="1A2442"/>
          </a:solidFill>
          <a:ln w="15875">
            <a:solidFill>
              <a:srgbClr val="222E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0840" y="1874519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B03A"/>
                </a:solidFill>
                <a:latin typeface="Microsoft YaHei"/>
              </a:rPr>
              <a:t>CSR 操作与异常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0840" y="2377440"/>
            <a:ext cx="45720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50" b="1">
                <a:solidFill>
                  <a:srgbClr val="2EC4B6"/>
                </a:solidFill>
                <a:latin typeface="Microsoft YaHei"/>
              </a:rPr>
              <a:t>▸  </a:t>
            </a:r>
            <a:r>
              <a:rPr sz="1250" b="1">
                <a:solidFill>
                  <a:srgbClr val="FFFFFF"/>
                </a:solidFill>
                <a:latin typeface="Microsoft YaHei"/>
              </a:rPr>
              <a:t>六条 CSR 指令</a:t>
            </a:r>
            <a:r>
              <a:rPr sz="1050">
                <a:solidFill>
                  <a:srgbClr val="9AA6C0"/>
                </a:solidFill>
                <a:latin typeface="Microsoft YaHei"/>
              </a:rPr>
              <a:t>  csrrw / csrrs / csrrc / csrrwi / csrrsi / csrrci，支持立即数形式 uimm[4:0]。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50" b="1">
                <a:solidFill>
                  <a:srgbClr val="2EC4B6"/>
                </a:solidFill>
                <a:latin typeface="Microsoft YaHei"/>
              </a:rPr>
              <a:t>▸  </a:t>
            </a:r>
            <a:r>
              <a:rPr sz="1250" b="1">
                <a:solidFill>
                  <a:srgbClr val="FFFFFF"/>
                </a:solidFill>
                <a:latin typeface="Microsoft YaHei"/>
              </a:rPr>
              <a:t>读写语义</a:t>
            </a:r>
            <a:r>
              <a:rPr sz="1050">
                <a:solidFill>
                  <a:srgbClr val="9AA6C0"/>
                </a:solidFill>
                <a:latin typeface="Microsoft YaHei"/>
              </a:rPr>
              <a:t>  csrrw 直接写；csrrs 按位或；csrrc 按位与反码。rs1=0 时抑制写。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50" b="1">
                <a:solidFill>
                  <a:srgbClr val="2EC4B6"/>
                </a:solidFill>
                <a:latin typeface="Microsoft YaHei"/>
              </a:rPr>
              <a:t>▸  </a:t>
            </a:r>
            <a:r>
              <a:rPr sz="1250" b="1">
                <a:solidFill>
                  <a:srgbClr val="FFFFFF"/>
                </a:solidFill>
                <a:latin typeface="Microsoft YaHei"/>
              </a:rPr>
              <a:t>ecall</a:t>
            </a:r>
            <a:r>
              <a:rPr sz="1050">
                <a:solidFill>
                  <a:srgbClr val="9AA6C0"/>
                </a:solidFill>
                <a:latin typeface="Microsoft YaHei"/>
              </a:rPr>
              <a:t>  mepc←当前 PC，mcause←8，跳转 mtvec。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50" b="1">
                <a:solidFill>
                  <a:srgbClr val="2EC4B6"/>
                </a:solidFill>
                <a:latin typeface="Microsoft YaHei"/>
              </a:rPr>
              <a:t>▸  </a:t>
            </a:r>
            <a:r>
              <a:rPr sz="1250" b="1">
                <a:solidFill>
                  <a:srgbClr val="FFFFFF"/>
                </a:solidFill>
                <a:latin typeface="Microsoft YaHei"/>
              </a:rPr>
              <a:t>ebreak</a:t>
            </a:r>
            <a:r>
              <a:rPr sz="1050">
                <a:solidFill>
                  <a:srgbClr val="9AA6C0"/>
                </a:solidFill>
                <a:latin typeface="Microsoft YaHei"/>
              </a:rPr>
              <a:t>  mcause←3，mtval←当前 PC，作为仿真结束/调试断点。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50" b="1">
                <a:solidFill>
                  <a:srgbClr val="2EC4B6"/>
                </a:solidFill>
                <a:latin typeface="Microsoft YaHei"/>
              </a:rPr>
              <a:t>▸  </a:t>
            </a:r>
            <a:r>
              <a:rPr sz="1250" b="1">
                <a:solidFill>
                  <a:srgbClr val="FFFFFF"/>
                </a:solidFill>
                <a:latin typeface="Microsoft YaHei"/>
              </a:rPr>
              <a:t>mret</a:t>
            </a:r>
            <a:r>
              <a:rPr sz="1050">
                <a:solidFill>
                  <a:srgbClr val="9AA6C0"/>
                </a:solidFill>
                <a:latin typeface="Microsoft YaHei"/>
              </a:rPr>
              <a:t>  返回 mepc，由 EXU 抬升 take_mret 直连 IFU。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50" b="1">
                <a:solidFill>
                  <a:srgbClr val="2EC4B6"/>
                </a:solidFill>
                <a:latin typeface="Microsoft YaHei"/>
              </a:rPr>
              <a:t>▸  </a:t>
            </a:r>
            <a:r>
              <a:rPr sz="1250" b="1">
                <a:solidFill>
                  <a:srgbClr val="FFFFFF"/>
                </a:solidFill>
                <a:latin typeface="Microsoft YaHei"/>
              </a:rPr>
              <a:t>退休计数</a:t>
            </a:r>
            <a:r>
              <a:rPr sz="1050">
                <a:solidFill>
                  <a:srgbClr val="9AA6C0"/>
                </a:solidFill>
                <a:latin typeface="Microsoft YaHei"/>
              </a:rPr>
              <a:t>  mcycle 每拍自增；minstret 按 1/2 条指令退休累加。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64190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AA6C0"/>
                </a:solidFill>
                <a:latin typeface="Microsoft YaHei"/>
              </a:rPr>
              <a:t>R1322IAe-csr-multicycle 核心介绍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EC4B6"/>
                </a:solidFill>
                <a:latin typeface="Microsoft YaHei"/>
              </a:rPr>
              <a:t>RESULTS &amp; TAKEAWAY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76656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FFFFF"/>
                </a:solidFill>
                <a:latin typeface="Microsoft YaHei"/>
              </a:rPr>
              <a:t>实现结果与总结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41148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200" b="1">
                <a:solidFill>
                  <a:srgbClr val="222E52"/>
                </a:solidFill>
                <a:latin typeface="Microsoft YaHei"/>
              </a:rPr>
              <a:t>07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298448"/>
            <a:ext cx="1005840" cy="41148"/>
          </a:xfrm>
          <a:prstGeom prst="rect">
            <a:avLst/>
          </a:prstGeom>
          <a:solidFill>
            <a:srgbClr val="FFB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1709928" cy="914400"/>
          </a:xfrm>
          <a:prstGeom prst="roundRect">
            <a:avLst/>
          </a:prstGeom>
          <a:solidFill>
            <a:srgbClr val="1A2442"/>
          </a:solidFill>
          <a:ln w="15875">
            <a:solidFill>
              <a:srgbClr val="222E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1709928" cy="91440"/>
          </a:xfrm>
          <a:prstGeom prst="round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29384"/>
            <a:ext cx="1709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2EC4B6"/>
                </a:solidFill>
                <a:latin typeface="Microsoft YaHei"/>
              </a:rPr>
              <a:t>909 MHz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313432"/>
            <a:ext cx="170992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9AA6C0"/>
                </a:solidFill>
                <a:latin typeface="Microsoft YaHei"/>
              </a:rPr>
              <a:t>fmax 主频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15184" y="1691640"/>
            <a:ext cx="1709928" cy="914400"/>
          </a:xfrm>
          <a:prstGeom prst="roundRect">
            <a:avLst/>
          </a:prstGeom>
          <a:solidFill>
            <a:srgbClr val="1A2442"/>
          </a:solidFill>
          <a:ln w="15875">
            <a:solidFill>
              <a:srgbClr val="222E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15184" y="1691640"/>
            <a:ext cx="1709928" cy="91440"/>
          </a:xfrm>
          <a:prstGeom prst="roundRect">
            <a:avLst/>
          </a:prstGeom>
          <a:solidFill>
            <a:srgbClr val="FFB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15184" y="1929384"/>
            <a:ext cx="1709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B03A"/>
                </a:solidFill>
                <a:latin typeface="Microsoft YaHei"/>
              </a:rPr>
              <a:t>1.078 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15184" y="2313432"/>
            <a:ext cx="170992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9AA6C0"/>
                </a:solidFill>
                <a:latin typeface="Microsoft YaHei"/>
              </a:rPr>
              <a:t>关键路径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98848" y="1691640"/>
            <a:ext cx="1709928" cy="914400"/>
          </a:xfrm>
          <a:prstGeom prst="roundRect">
            <a:avLst/>
          </a:prstGeom>
          <a:solidFill>
            <a:srgbClr val="1A2442"/>
          </a:solidFill>
          <a:ln w="15875">
            <a:solidFill>
              <a:srgbClr val="222E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98848" y="1691640"/>
            <a:ext cx="1709928" cy="91440"/>
          </a:xfrm>
          <a:prstGeom prst="roundRect">
            <a:avLst/>
          </a:prstGeom>
          <a:solidFill>
            <a:srgbClr val="5B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8848" y="1929384"/>
            <a:ext cx="1709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5B9BFF"/>
                </a:solidFill>
                <a:latin typeface="Microsoft YaHei"/>
              </a:rPr>
              <a:t>182,977 µm²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8848" y="2313432"/>
            <a:ext cx="170992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9AA6C0"/>
                </a:solidFill>
                <a:latin typeface="Microsoft YaHei"/>
              </a:rPr>
              <a:t>芯片面积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82512" y="1691640"/>
            <a:ext cx="1709928" cy="914400"/>
          </a:xfrm>
          <a:prstGeom prst="roundRect">
            <a:avLst/>
          </a:prstGeom>
          <a:solidFill>
            <a:srgbClr val="1A2442"/>
          </a:solidFill>
          <a:ln w="15875">
            <a:solidFill>
              <a:srgbClr val="222E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82512" y="1691640"/>
            <a:ext cx="1709928" cy="91440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1929384"/>
            <a:ext cx="1709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6B6B"/>
                </a:solidFill>
                <a:latin typeface="Microsoft YaHei"/>
              </a:rPr>
              <a:t>18,277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2" y="2313432"/>
            <a:ext cx="170992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9AA6C0"/>
                </a:solidFill>
                <a:latin typeface="Microsoft YaHei"/>
              </a:rPr>
              <a:t>DFF 触发器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66176" y="1691640"/>
            <a:ext cx="1709928" cy="914400"/>
          </a:xfrm>
          <a:prstGeom prst="roundRect">
            <a:avLst/>
          </a:prstGeom>
          <a:solidFill>
            <a:srgbClr val="1A2442"/>
          </a:solidFill>
          <a:ln w="15875">
            <a:solidFill>
              <a:srgbClr val="222E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66176" y="1691640"/>
            <a:ext cx="1709928" cy="91440"/>
          </a:xfrm>
          <a:prstGeom prst="round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66176" y="1929384"/>
            <a:ext cx="1709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2EC4B6"/>
                </a:solidFill>
                <a:latin typeface="Microsoft YaHei"/>
              </a:rPr>
              <a:t>5 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66176" y="2313432"/>
            <a:ext cx="170992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9AA6C0"/>
                </a:solidFill>
                <a:latin typeface="Microsoft YaHei"/>
              </a:rPr>
              <a:t>每包周期数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149840" y="1691640"/>
            <a:ext cx="1709928" cy="914400"/>
          </a:xfrm>
          <a:prstGeom prst="roundRect">
            <a:avLst/>
          </a:prstGeom>
          <a:solidFill>
            <a:srgbClr val="1A2442"/>
          </a:solidFill>
          <a:ln w="15875">
            <a:solidFill>
              <a:srgbClr val="222E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149840" y="1691640"/>
            <a:ext cx="1709928" cy="91440"/>
          </a:xfrm>
          <a:prstGeom prst="roundRect">
            <a:avLst/>
          </a:prstGeom>
          <a:solidFill>
            <a:srgbClr val="FFB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49840" y="1929384"/>
            <a:ext cx="1709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B03A"/>
                </a:solidFill>
                <a:latin typeface="Microsoft YaHei"/>
              </a:rPr>
              <a:t>~100k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49840" y="2313432"/>
            <a:ext cx="170992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9AA6C0"/>
                </a:solidFill>
                <a:latin typeface="Microsoft YaHei"/>
              </a:rPr>
              <a:t>总单元数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731520" y="2971800"/>
          <a:ext cx="1088136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468880"/>
                <a:gridCol w="2194560"/>
                <a:gridCol w="2194560"/>
                <a:gridCol w="1737360"/>
              </a:tblGrid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DDE3F0"/>
                          </a:solidFill>
                          <a:latin typeface="Microsoft YaHei"/>
                        </a:rPr>
                        <a:t>指标</a:t>
                      </a:r>
                    </a:p>
                  </a:txBody>
                  <a:tcPr marL="73152" marR="73152" marT="18288" marB="18288" anchor="ctr">
                    <a:solidFill>
                      <a:srgbClr val="222E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单周期 R1322IAe-csr</a:t>
                      </a:r>
                    </a:p>
                  </a:txBody>
                  <a:tcPr marL="73152" marR="73152" marT="18288" marB="18288" anchor="ctr">
                    <a:solidFill>
                      <a:srgbClr val="222E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multicycle</a:t>
                      </a:r>
                    </a:p>
                  </a:txBody>
                  <a:tcPr marL="73152" marR="73152" marT="18288" marB="18288" anchor="ctr">
                    <a:solidFill>
                      <a:srgbClr val="222E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multicycle-2</a:t>
                      </a:r>
                    </a:p>
                  </a:txBody>
                  <a:tcPr marL="73152" marR="73152" marT="18288" marB="18288" anchor="ctr">
                    <a:solidFill>
                      <a:srgbClr val="222E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pipe</a:t>
                      </a:r>
                    </a:p>
                  </a:txBody>
                  <a:tcPr marL="73152" marR="73152" marT="18288" marB="18288" anchor="ctr">
                    <a:solidFill>
                      <a:srgbClr val="222E52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DDE3F0"/>
                          </a:solidFill>
                          <a:latin typeface="Microsoft YaHei"/>
                        </a:rPr>
                        <a:t>fmax</a:t>
                      </a:r>
                    </a:p>
                  </a:txBody>
                  <a:tcPr marL="73152" marR="73152" marT="18288" marB="18288" anchor="ctr">
                    <a:solidFill>
                      <a:srgbClr val="1A24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DDE3F0"/>
                          </a:solidFill>
                          <a:latin typeface="Microsoft YaHei"/>
                        </a:rPr>
                        <a:t>444.93 MHz</a:t>
                      </a:r>
                    </a:p>
                  </a:txBody>
                  <a:tcPr marL="73152" marR="73152" marT="18288" marB="18288" anchor="ctr">
                    <a:solidFill>
                      <a:srgbClr val="1A24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C4B6"/>
                          </a:solidFill>
                          <a:latin typeface="Microsoft YaHei"/>
                        </a:rPr>
                        <a:t>909.34 MHz</a:t>
                      </a:r>
                    </a:p>
                  </a:txBody>
                  <a:tcPr marL="73152" marR="73152" marT="18288" marB="18288" anchor="ctr">
                    <a:solidFill>
                      <a:srgbClr val="1A24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DDE3F0"/>
                          </a:solidFill>
                          <a:latin typeface="Microsoft YaHei"/>
                        </a:rPr>
                        <a:t>1163.67 MHz</a:t>
                      </a:r>
                    </a:p>
                  </a:txBody>
                  <a:tcPr marL="73152" marR="73152" marT="18288" marB="18288" anchor="ctr">
                    <a:solidFill>
                      <a:srgbClr val="1A24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DDE3F0"/>
                          </a:solidFill>
                          <a:latin typeface="Microsoft YaHei"/>
                        </a:rPr>
                        <a:t>608.39 MHz</a:t>
                      </a:r>
                    </a:p>
                  </a:txBody>
                  <a:tcPr marL="73152" marR="73152" marT="18288" marB="18288" anchor="ctr">
                    <a:solidFill>
                      <a:srgbClr val="1A2442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DDE3F0"/>
                          </a:solidFill>
                          <a:latin typeface="Microsoft YaHei"/>
                        </a:rPr>
                        <a:t>周期/包</a:t>
                      </a:r>
                    </a:p>
                  </a:txBody>
                  <a:tcPr marL="73152" marR="73152" marT="18288" marB="18288" anchor="ctr">
                    <a:solidFill>
                      <a:srgbClr val="1A24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DDE3F0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L="73152" marR="73152" marT="18288" marB="18288" anchor="ctr">
                    <a:solidFill>
                      <a:srgbClr val="1A24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C4B6"/>
                          </a:solidFill>
                          <a:latin typeface="Microsoft YaHei"/>
                        </a:rPr>
                        <a:t>5</a:t>
                      </a:r>
                    </a:p>
                  </a:txBody>
                  <a:tcPr marL="73152" marR="73152" marT="18288" marB="18288" anchor="ctr">
                    <a:solidFill>
                      <a:srgbClr val="1A24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DDE3F0"/>
                          </a:solidFill>
                          <a:latin typeface="Microsoft YaHei"/>
                        </a:rPr>
                        <a:t>6</a:t>
                      </a:r>
                    </a:p>
                  </a:txBody>
                  <a:tcPr marL="73152" marR="73152" marT="18288" marB="18288" anchor="ctr">
                    <a:solidFill>
                      <a:srgbClr val="1A24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DDE3F0"/>
                          </a:solidFill>
                          <a:latin typeface="Microsoft YaHei"/>
                        </a:rPr>
                        <a:t>~1.5</a:t>
                      </a:r>
                    </a:p>
                  </a:txBody>
                  <a:tcPr marL="73152" marR="73152" marT="18288" marB="18288" anchor="ctr">
                    <a:solidFill>
                      <a:srgbClr val="1A2442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DDE3F0"/>
                          </a:solidFill>
                          <a:latin typeface="Microsoft YaHei"/>
                        </a:rPr>
                        <a:t>微结构</a:t>
                      </a:r>
                    </a:p>
                  </a:txBody>
                  <a:tcPr marL="73152" marR="73152" marT="18288" marB="18288" anchor="ctr">
                    <a:solidFill>
                      <a:srgbClr val="1A24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DDE3F0"/>
                          </a:solidFill>
                          <a:latin typeface="Microsoft YaHei"/>
                        </a:rPr>
                        <a:t>单周期双发射</a:t>
                      </a:r>
                    </a:p>
                  </a:txBody>
                  <a:tcPr marL="73152" marR="73152" marT="18288" marB="18288" anchor="ctr">
                    <a:solidFill>
                      <a:srgbClr val="1A24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EC4B6"/>
                          </a:solidFill>
                          <a:latin typeface="Microsoft YaHei"/>
                        </a:rPr>
                        <a:t>多周期双发射</a:t>
                      </a:r>
                    </a:p>
                  </a:txBody>
                  <a:tcPr marL="73152" marR="73152" marT="18288" marB="18288" anchor="ctr">
                    <a:solidFill>
                      <a:srgbClr val="1A24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DDE3F0"/>
                          </a:solidFill>
                          <a:latin typeface="Microsoft YaHei"/>
                        </a:rPr>
                        <a:t>D 拆两级</a:t>
                      </a:r>
                    </a:p>
                  </a:txBody>
                  <a:tcPr marL="73152" marR="73152" marT="18288" marB="18288" anchor="ctr">
                    <a:solidFill>
                      <a:srgbClr val="1A24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DDE3F0"/>
                          </a:solidFill>
                          <a:latin typeface="Microsoft YaHei"/>
                        </a:rPr>
                        <a:t>真流水线</a:t>
                      </a:r>
                    </a:p>
                  </a:txBody>
                  <a:tcPr marL="73152" marR="73152" marT="18288" marB="18288" anchor="ctr">
                    <a:solidFill>
                      <a:srgbClr val="1A2442"/>
                    </a:solidFill>
                  </a:tcPr>
                </a:tc>
              </a:tr>
            </a:tbl>
          </a:graphicData>
        </a:graphic>
      </p:graphicFrame>
      <p:sp>
        <p:nvSpPr>
          <p:cNvPr id="33" name="Rounded Rectangle 32"/>
          <p:cNvSpPr/>
          <p:nvPr/>
        </p:nvSpPr>
        <p:spPr>
          <a:xfrm>
            <a:off x="731520" y="5029200"/>
            <a:ext cx="10881360" cy="1143000"/>
          </a:xfrm>
          <a:prstGeom prst="roundRect">
            <a:avLst/>
          </a:prstGeom>
          <a:solidFill>
            <a:srgbClr val="1A2442"/>
          </a:solidFill>
          <a:ln w="15875">
            <a:solidFill>
              <a:srgbClr val="2E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5029200"/>
            <a:ext cx="91440" cy="1143000"/>
          </a:xfrm>
          <a:prstGeom prst="round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" y="5193792"/>
            <a:ext cx="10424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DDE3F0"/>
                </a:solidFill>
                <a:latin typeface="Microsoft YaHei"/>
              </a:rPr>
              <a:t>结论：多周期把一条 2.2 ns 的组合链切成 5 段，主频提升约 2.05×，面积基本持平；代价是每包 5 拍，当前形态实际性能约为单周期的 1/2.5。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DDE3F0"/>
                </a:solidFill>
                <a:latin typeface="Microsoft YaHei"/>
              </a:rPr>
              <a:t>该架构是通往真流水线（每拍一包）的必经形态，后续可切换 pipeline 模式并补齐跨包冒险与冲刷。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" y="64190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AA6C0"/>
                </a:solidFill>
                <a:latin typeface="Microsoft YaHei"/>
              </a:rPr>
              <a:t>数据来源：STA-对比报告.md / iEDA iSTA，nangate45 typical，100MHz 约束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